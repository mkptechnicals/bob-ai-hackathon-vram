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12192000"/>
  <p:embeddedFontLst>
    <p:embeddedFont>
      <p:font typeface="Consolas" panose="020B0609020204030204" pitchFamily="49" charset="0"/>
      <p:regular r:id="rId11"/>
      <p:bold r:id="rId12"/>
      <p:italic r:id="rId13"/>
      <p:boldItalic r:id="rId14"/>
    </p:embeddedFont>
    <p:embeddedFont>
      <p:font typeface="Overpass" panose="020B0604020202020204" charset="0"/>
      <p:regular r:id="rId15"/>
    </p:embeddedFont>
    <p:embeddedFont>
      <p:font typeface="Overpass Bold" panose="020B0604020202020204" charset="0"/>
      <p:regular r:id="rId16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66" d="100"/>
          <a:sy n="66" d="100"/>
        </p:scale>
        <p:origin x="79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3.fntdata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2.fntdata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font" Target="fonts/font6.fntdata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1.fntdata"/><Relationship Id="rId5" Type="http://schemas.openxmlformats.org/officeDocument/2006/relationships/slide" Target="slides/slide4.xml"/><Relationship Id="rId15" Type="http://schemas.openxmlformats.org/officeDocument/2006/relationships/font" Target="fonts/font5.fntdata"/><Relationship Id="rId10" Type="http://schemas.openxmlformats.org/officeDocument/2006/relationships/notesMaster" Target="notesMasters/notesMaster1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59524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s://gamma.app/?utm_source=made-with-gamma" TargetMode="External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master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52222">
              <a:alpha val="95000"/>
            </a:srgbClr>
          </a:solidFill>
          <a:ln/>
        </p:spPr>
      </p:sp>
      <p:pic>
        <p:nvPicPr>
          <p:cNvPr id="4" name="Image 1" descr="preencoded.png">
            <a:hlinkClick r:id="rId3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76875" y="65589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svg"/><Relationship Id="rId7" Type="http://schemas.openxmlformats.org/officeDocument/2006/relationships/image" Target="../media/image15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.svg"/><Relationship Id="rId5" Type="http://schemas.openxmlformats.org/officeDocument/2006/relationships/image" Target="../media/image13.svg"/><Relationship Id="rId4" Type="http://schemas.openxmlformats.org/officeDocument/2006/relationships/image" Target="../media/image1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69971" y="2403177"/>
            <a:ext cx="6223638" cy="58668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650" b="1" kern="0" spc="-111" dirty="0">
                <a:solidFill>
                  <a:srgbClr val="FFFFF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Bobathon Grid Optimiser</a:t>
            </a:r>
            <a:endParaRPr lang="en-US" sz="3650" dirty="0"/>
          </a:p>
        </p:txBody>
      </p:sp>
      <p:sp>
        <p:nvSpPr>
          <p:cNvPr id="4" name="Text 1"/>
          <p:cNvSpPr/>
          <p:nvPr/>
        </p:nvSpPr>
        <p:spPr>
          <a:xfrm>
            <a:off x="5269971" y="3289002"/>
            <a:ext cx="6223638" cy="63837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550" dirty="0">
                <a:solidFill>
                  <a:srgbClr val="E5E0D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Demand Spike Forecasting · Anomaly Detection · Operator Briefs with Bob AI</a:t>
            </a:r>
            <a:endParaRPr lang="en-US" sz="1550" dirty="0"/>
          </a:p>
        </p:txBody>
      </p:sp>
      <p:sp>
        <p:nvSpPr>
          <p:cNvPr id="5" name="Shape 2"/>
          <p:cNvSpPr/>
          <p:nvPr/>
        </p:nvSpPr>
        <p:spPr>
          <a:xfrm>
            <a:off x="5269971" y="4151709"/>
            <a:ext cx="1129081" cy="303113"/>
          </a:xfrm>
          <a:prstGeom prst="roundRect">
            <a:avLst>
              <a:gd name="adj" fmla="val 22112"/>
            </a:avLst>
          </a:prstGeom>
          <a:solidFill>
            <a:srgbClr val="4C0124"/>
          </a:solidFill>
          <a:ln/>
        </p:spPr>
      </p:sp>
      <p:sp>
        <p:nvSpPr>
          <p:cNvPr id="6" name="Text 3"/>
          <p:cNvSpPr/>
          <p:nvPr/>
        </p:nvSpPr>
        <p:spPr>
          <a:xfrm>
            <a:off x="5389626" y="4211538"/>
            <a:ext cx="1499356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E5E0D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TEAM VRAM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6498765" y="4151709"/>
            <a:ext cx="1773590" cy="303113"/>
          </a:xfrm>
          <a:prstGeom prst="roundRect">
            <a:avLst>
              <a:gd name="adj" fmla="val 22112"/>
            </a:avLst>
          </a:prstGeom>
          <a:noFill/>
          <a:ln w="6350">
            <a:solidFill>
              <a:srgbClr val="F20374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618420" y="4211538"/>
            <a:ext cx="2143865" cy="1834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96000"/>
              </a:lnSpc>
              <a:buNone/>
            </a:pPr>
            <a:r>
              <a:rPr lang="en-US" sz="1250" dirty="0">
                <a:solidFill>
                  <a:srgbClr val="F20374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15 SEPTEMBER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09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98086" y="563662"/>
            <a:ext cx="6223638" cy="10632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b="1" kern="0" spc="-100" dirty="0">
                <a:solidFill>
                  <a:srgbClr val="FFFFF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The Problem: Grid Operators Are Flying Blind</a:t>
            </a:r>
            <a:endParaRPr lang="en-US" sz="3300" dirty="0"/>
          </a:p>
        </p:txBody>
      </p:sp>
      <p:sp>
        <p:nvSpPr>
          <p:cNvPr id="4" name="Shape 1"/>
          <p:cNvSpPr/>
          <p:nvPr/>
        </p:nvSpPr>
        <p:spPr>
          <a:xfrm>
            <a:off x="698086" y="1872555"/>
            <a:ext cx="3029866" cy="1831181"/>
          </a:xfrm>
          <a:prstGeom prst="roundRect">
            <a:avLst>
              <a:gd name="adj" fmla="val 4146"/>
            </a:avLst>
          </a:prstGeom>
          <a:solidFill>
            <a:srgbClr val="7E023C"/>
          </a:solidFill>
          <a:ln w="6350">
            <a:solidFill>
              <a:srgbClr val="971B5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85208" y="2059682"/>
            <a:ext cx="2655623" cy="53181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kern="0" spc="-50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Unpredictable Renewable Output</a:t>
            </a:r>
            <a:endParaRPr lang="en-US" sz="1650" dirty="0"/>
          </a:p>
        </p:txBody>
      </p:sp>
      <p:sp>
        <p:nvSpPr>
          <p:cNvPr id="6" name="Text 3"/>
          <p:cNvSpPr/>
          <p:nvPr/>
        </p:nvSpPr>
        <p:spPr>
          <a:xfrm>
            <a:off x="885208" y="2689721"/>
            <a:ext cx="2655623" cy="8268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400" dirty="0">
                <a:solidFill>
                  <a:srgbClr val="E5E0D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Solar and wind variability creates gaps in supply that are hard to anticipate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891758" y="1872555"/>
            <a:ext cx="3029966" cy="1831181"/>
          </a:xfrm>
          <a:prstGeom prst="roundRect">
            <a:avLst>
              <a:gd name="adj" fmla="val 4146"/>
            </a:avLst>
          </a:prstGeom>
          <a:solidFill>
            <a:srgbClr val="7E023C"/>
          </a:solidFill>
          <a:ln w="6350">
            <a:solidFill>
              <a:srgbClr val="971B5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078880" y="2059682"/>
            <a:ext cx="2655722" cy="2659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kern="0" spc="-50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Sudden Demand Spikes</a:t>
            </a:r>
            <a:endParaRPr lang="en-US" sz="1650" dirty="0"/>
          </a:p>
        </p:txBody>
      </p:sp>
      <p:sp>
        <p:nvSpPr>
          <p:cNvPr id="9" name="Text 6"/>
          <p:cNvSpPr/>
          <p:nvPr/>
        </p:nvSpPr>
        <p:spPr>
          <a:xfrm>
            <a:off x="4078880" y="2423815"/>
            <a:ext cx="2655722" cy="8268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400" dirty="0">
                <a:solidFill>
                  <a:srgbClr val="E5E0D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Rapid load changes strain the grid before operators can respond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98086" y="3867547"/>
            <a:ext cx="6223638" cy="1289645"/>
          </a:xfrm>
          <a:prstGeom prst="roundRect">
            <a:avLst>
              <a:gd name="adj" fmla="val 5887"/>
            </a:avLst>
          </a:prstGeom>
          <a:solidFill>
            <a:srgbClr val="7E023C"/>
          </a:solidFill>
          <a:ln w="6350">
            <a:solidFill>
              <a:srgbClr val="971B5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85208" y="4054673"/>
            <a:ext cx="5849394" cy="2659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kern="0" spc="-50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Fragmented Signals</a:t>
            </a:r>
            <a:endParaRPr lang="en-US" sz="1650" dirty="0"/>
          </a:p>
        </p:txBody>
      </p:sp>
      <p:sp>
        <p:nvSpPr>
          <p:cNvPr id="12" name="Text 9"/>
          <p:cNvSpPr/>
          <p:nvPr/>
        </p:nvSpPr>
        <p:spPr>
          <a:xfrm>
            <a:off x="885208" y="4418806"/>
            <a:ext cx="5849394" cy="5512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400" dirty="0">
                <a:solidFill>
                  <a:srgbClr val="E5E0D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Telemetry, forecasts, and alerts live in separate systems — no unified view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98086" y="5341441"/>
            <a:ext cx="6223638" cy="952798"/>
          </a:xfrm>
          <a:prstGeom prst="roundRect">
            <a:avLst>
              <a:gd name="adj" fmla="val 7969"/>
            </a:avLst>
          </a:prstGeom>
          <a:solidFill>
            <a:srgbClr val="4B3F02"/>
          </a:solidFill>
          <a:ln/>
        </p:spPr>
      </p:sp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8858" y="5576292"/>
            <a:ext cx="225915" cy="180777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285545" y="5550396"/>
            <a:ext cx="5455406" cy="5512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Impact:</a:t>
            </a:r>
            <a:r>
              <a:rPr lang="en-US" sz="140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 Increased curtailment, load-shedding risk, and costly manual triage.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572294"/>
            <a:ext cx="10795524" cy="48587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050" b="1" kern="0" spc="-92" dirty="0">
                <a:solidFill>
                  <a:srgbClr val="FFFFF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The Solution: End-to-End Pipeline</a:t>
            </a:r>
            <a:endParaRPr lang="en-US" sz="3050" dirty="0"/>
          </a:p>
        </p:txBody>
      </p:sp>
      <p:sp>
        <p:nvSpPr>
          <p:cNvPr id="3" name="Text 1"/>
          <p:cNvSpPr/>
          <p:nvPr/>
        </p:nvSpPr>
        <p:spPr>
          <a:xfrm>
            <a:off x="698086" y="1331714"/>
            <a:ext cx="10795524" cy="48319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Raw grid telemetry flows through forecasting, anomaly detection, and optimization — then Bob AI generates a plain-language operator brief, all surfaced on a unified dashboard.</a:t>
            </a:r>
            <a:endParaRPr lang="en-US" sz="130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920" y="1968798"/>
            <a:ext cx="10449755" cy="392132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9314221" y="4947124"/>
            <a:ext cx="1576134" cy="285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b="1" kern="0" spc="-54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Bob AI Brief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327860" y="4947124"/>
            <a:ext cx="1576134" cy="285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b="1" kern="0" spc="-54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Optimiser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5352294" y="4804418"/>
            <a:ext cx="1576134" cy="571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b="1" kern="0" spc="-54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Anomaly Detection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3376729" y="4947124"/>
            <a:ext cx="1576134" cy="285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b="1" kern="0" spc="-54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Forecast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1357981" y="4947124"/>
            <a:ext cx="1576134" cy="28558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b="1" kern="0" spc="-54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Telemetry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98086" y="6044009"/>
            <a:ext cx="11405108" cy="24159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2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Each stage builds on the last — from raw signal to operator-ready decision support.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548580"/>
            <a:ext cx="10795524" cy="2932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kern="0" spc="-55" dirty="0">
                <a:solidFill>
                  <a:srgbClr val="FFFFF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System Architecture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698086" y="3760688"/>
            <a:ext cx="4724183" cy="252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E5E0D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The pipeline is orchestrated through a </a:t>
            </a:r>
            <a:r>
              <a:rPr lang="en-US" sz="750" b="1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FastAPI backend</a:t>
            </a:r>
            <a:r>
              <a:rPr lang="en-US" sz="750" dirty="0">
                <a:solidFill>
                  <a:srgbClr val="E5E0D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 (</a:t>
            </a:r>
            <a:r>
              <a:rPr lang="en-US" sz="750" dirty="0">
                <a:solidFill>
                  <a:srgbClr val="E5E0DF"/>
                </a:solidFill>
                <a:highlight>
                  <a:srgbClr val="322F2F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app.py</a:t>
            </a:r>
            <a:r>
              <a:rPr lang="en-US" sz="750" dirty="0">
                <a:solidFill>
                  <a:srgbClr val="E5E0D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) that manages real-time telemetry via WebSocket, coordinates model inference, and persists trained models for low-latency serving.</a:t>
            </a:r>
            <a:endParaRPr lang="en-US" sz="750" dirty="0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71896" y="972641"/>
            <a:ext cx="5828063" cy="5828209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086" y="6912967"/>
            <a:ext cx="3565237" cy="53369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861296" y="7025382"/>
            <a:ext cx="3289615" cy="1466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00" b="1" kern="0" spc="-28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Reservoir Forecaster</a:t>
            </a:r>
            <a:endParaRPr lang="en-US" sz="900" dirty="0"/>
          </a:p>
        </p:txBody>
      </p:sp>
      <p:sp>
        <p:nvSpPr>
          <p:cNvPr id="7" name="Text 3"/>
          <p:cNvSpPr/>
          <p:nvPr/>
        </p:nvSpPr>
        <p:spPr>
          <a:xfrm>
            <a:off x="861296" y="7201892"/>
            <a:ext cx="3289615" cy="1196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E5E0D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Demand spike prediction from streaming telemetry</a:t>
            </a:r>
            <a:endParaRPr lang="en-US" sz="75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313130" y="6912967"/>
            <a:ext cx="3565337" cy="533698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476340" y="7025382"/>
            <a:ext cx="3289714" cy="1466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00" b="1" kern="0" spc="-28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IsolationForest Detector</a:t>
            </a:r>
            <a:endParaRPr lang="en-US" sz="900" dirty="0"/>
          </a:p>
        </p:txBody>
      </p:sp>
      <p:sp>
        <p:nvSpPr>
          <p:cNvPr id="10" name="Text 5"/>
          <p:cNvSpPr/>
          <p:nvPr/>
        </p:nvSpPr>
        <p:spPr>
          <a:xfrm>
            <a:off x="4476340" y="7201892"/>
            <a:ext cx="3289714" cy="1196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E5E0D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Unsupervised anomaly flagging on grid signals</a:t>
            </a:r>
            <a:endParaRPr lang="en-US" sz="75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928273" y="6912967"/>
            <a:ext cx="3565337" cy="533698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8091484" y="7025382"/>
            <a:ext cx="3289714" cy="1466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900" b="1" kern="0" spc="-28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Bob AI Integration</a:t>
            </a:r>
            <a:endParaRPr lang="en-US" sz="900" dirty="0"/>
          </a:p>
        </p:txBody>
      </p:sp>
      <p:sp>
        <p:nvSpPr>
          <p:cNvPr id="13" name="Text 7"/>
          <p:cNvSpPr/>
          <p:nvPr/>
        </p:nvSpPr>
        <p:spPr>
          <a:xfrm>
            <a:off x="8091484" y="7201892"/>
            <a:ext cx="3289714" cy="13235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50" dirty="0">
                <a:solidFill>
                  <a:srgbClr val="E5E0DF"/>
                </a:solidFill>
                <a:highlight>
                  <a:srgbClr val="322F2F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bob_integration.py</a:t>
            </a:r>
            <a:r>
              <a:rPr lang="en-US" sz="750" dirty="0">
                <a:solidFill>
                  <a:srgbClr val="E5E0D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 — briefs, fallbacks, diagnostics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562967"/>
            <a:ext cx="10795524" cy="44916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800" b="1" kern="0" spc="-85" dirty="0">
                <a:solidFill>
                  <a:srgbClr val="FFFFF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Live Demo: Dashboard Walkthrough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98086" y="1245989"/>
            <a:ext cx="610875" cy="916285"/>
          </a:xfrm>
          <a:prstGeom prst="roundRect">
            <a:avLst>
              <a:gd name="adj" fmla="val 50000"/>
            </a:avLst>
          </a:prstGeom>
          <a:solidFill>
            <a:srgbClr val="7E023C"/>
          </a:solidFill>
          <a:ln w="6350">
            <a:solidFill>
              <a:srgbClr val="971B55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88978" y="1560909"/>
            <a:ext cx="228991" cy="2863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b="1" kern="0" spc="-54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425837" y="1398687"/>
            <a:ext cx="10067772" cy="224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kern="0" spc="-42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Connect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425837" y="1693366"/>
            <a:ext cx="10067772" cy="2156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00" dirty="0">
                <a:solidFill>
                  <a:srgbClr val="E5E0D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Link real-time telemetry feed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98086" y="2279154"/>
            <a:ext cx="610875" cy="916285"/>
          </a:xfrm>
          <a:prstGeom prst="roundRect">
            <a:avLst>
              <a:gd name="adj" fmla="val 50000"/>
            </a:avLst>
          </a:prstGeom>
          <a:solidFill>
            <a:srgbClr val="7E023C"/>
          </a:solidFill>
          <a:ln w="6350">
            <a:solidFill>
              <a:srgbClr val="971B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88978" y="2594074"/>
            <a:ext cx="228991" cy="2863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b="1" kern="0" spc="-54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25837" y="2431852"/>
            <a:ext cx="10067772" cy="224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kern="0" spc="-42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Forecast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425837" y="2726531"/>
            <a:ext cx="10067772" cy="2156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00" dirty="0">
                <a:solidFill>
                  <a:srgbClr val="E5E0D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View predicted demand curve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98086" y="3312319"/>
            <a:ext cx="610875" cy="916285"/>
          </a:xfrm>
          <a:prstGeom prst="roundRect">
            <a:avLst>
              <a:gd name="adj" fmla="val 50000"/>
            </a:avLst>
          </a:prstGeom>
          <a:solidFill>
            <a:srgbClr val="7E023C"/>
          </a:solidFill>
          <a:ln w="6350">
            <a:solidFill>
              <a:srgbClr val="971B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88978" y="3627239"/>
            <a:ext cx="228991" cy="2863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b="1" kern="0" spc="-54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25837" y="3465016"/>
            <a:ext cx="10067772" cy="224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kern="0" spc="-42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Detect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25837" y="3759696"/>
            <a:ext cx="10067772" cy="2156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00" dirty="0">
                <a:solidFill>
                  <a:srgbClr val="E5E0D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Anomalies flagged automatically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98086" y="4345484"/>
            <a:ext cx="610875" cy="916285"/>
          </a:xfrm>
          <a:prstGeom prst="roundRect">
            <a:avLst>
              <a:gd name="adj" fmla="val 50000"/>
            </a:avLst>
          </a:prstGeom>
          <a:solidFill>
            <a:srgbClr val="7E023C"/>
          </a:solidFill>
          <a:ln w="6350">
            <a:solidFill>
              <a:srgbClr val="971B5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8978" y="4660404"/>
            <a:ext cx="228991" cy="2863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b="1" kern="0" spc="-54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425837" y="4498181"/>
            <a:ext cx="10067772" cy="224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kern="0" spc="-42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Recommend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5837" y="4792861"/>
            <a:ext cx="10067772" cy="2156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00" dirty="0">
                <a:solidFill>
                  <a:srgbClr val="E5E0D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Optimizer suggests actions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98086" y="5378648"/>
            <a:ext cx="610875" cy="916285"/>
          </a:xfrm>
          <a:prstGeom prst="roundRect">
            <a:avLst>
              <a:gd name="adj" fmla="val 50000"/>
            </a:avLst>
          </a:prstGeom>
          <a:solidFill>
            <a:srgbClr val="7E023C"/>
          </a:solidFill>
          <a:ln w="6350">
            <a:solidFill>
              <a:srgbClr val="971B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88978" y="5693569"/>
            <a:ext cx="228991" cy="28634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800" b="1" kern="0" spc="-54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5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425837" y="5531346"/>
            <a:ext cx="10067772" cy="2245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00" b="1" kern="0" spc="-42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Bob Brief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425837" y="5826026"/>
            <a:ext cx="10067772" cy="2156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1200" dirty="0">
                <a:solidFill>
                  <a:srgbClr val="E5E0D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Plain-language operator summary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551061"/>
            <a:ext cx="10795524" cy="5316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300" b="1" kern="0" spc="-100" dirty="0">
                <a:solidFill>
                  <a:srgbClr val="FFFFF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Bob AI: Operator Briefs That Explain Themselves</a:t>
            </a:r>
            <a:endParaRPr lang="en-US" sz="33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8086" y="1512590"/>
            <a:ext cx="5177303" cy="293379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322656" y="2565995"/>
            <a:ext cx="5177303" cy="8268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400" dirty="0">
                <a:solidFill>
                  <a:srgbClr val="E5E0D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Bob AI translates model outputs into </a:t>
            </a:r>
            <a:r>
              <a:rPr lang="en-US" sz="1400" b="1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actionable operator briefs</a:t>
            </a:r>
            <a:r>
              <a:rPr lang="en-US" sz="1400" dirty="0">
                <a:solidFill>
                  <a:srgbClr val="E5E0D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 — explaining what happened, why it matters, and what to do next.</a:t>
            </a:r>
            <a:endParaRPr lang="en-US" sz="14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65850" y="4820394"/>
            <a:ext cx="271158" cy="271165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1285545" y="4814888"/>
            <a:ext cx="2874494" cy="2659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kern="0" spc="-50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Contextual Explanations</a:t>
            </a:r>
            <a:endParaRPr lang="en-US" sz="1650" dirty="0"/>
          </a:p>
        </p:txBody>
      </p:sp>
      <p:sp>
        <p:nvSpPr>
          <p:cNvPr id="7" name="Text 3"/>
          <p:cNvSpPr/>
          <p:nvPr/>
        </p:nvSpPr>
        <p:spPr>
          <a:xfrm>
            <a:off x="1285545" y="5179020"/>
            <a:ext cx="2874494" cy="5512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400" dirty="0">
                <a:solidFill>
                  <a:srgbClr val="E5E0D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Briefs reference specific anomalies and forecast deviations</a:t>
            </a:r>
            <a:endParaRPr lang="en-US" sz="1400" dirty="0"/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432586" y="4820394"/>
            <a:ext cx="271158" cy="271165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952281" y="4814888"/>
            <a:ext cx="2874494" cy="2659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kern="0" spc="-50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Prioritized Actions</a:t>
            </a:r>
            <a:endParaRPr lang="en-US" sz="1650" dirty="0"/>
          </a:p>
        </p:txBody>
      </p:sp>
      <p:sp>
        <p:nvSpPr>
          <p:cNvPr id="10" name="Text 5"/>
          <p:cNvSpPr/>
          <p:nvPr/>
        </p:nvSpPr>
        <p:spPr>
          <a:xfrm>
            <a:off x="4952281" y="5179020"/>
            <a:ext cx="2874494" cy="55125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400" dirty="0">
                <a:solidFill>
                  <a:srgbClr val="E5E0D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Recommendations ranked by urgency and impact</a:t>
            </a:r>
            <a:endParaRPr lang="en-US" sz="1400" dirty="0"/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099322" y="4820394"/>
            <a:ext cx="271158" cy="271165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8619016" y="4814888"/>
            <a:ext cx="2874593" cy="26590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650" b="1" kern="0" spc="-50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Resilient Integration</a:t>
            </a:r>
            <a:endParaRPr lang="en-US" sz="1650" dirty="0"/>
          </a:p>
        </p:txBody>
      </p:sp>
      <p:sp>
        <p:nvSpPr>
          <p:cNvPr id="13" name="Text 7"/>
          <p:cNvSpPr/>
          <p:nvPr/>
        </p:nvSpPr>
        <p:spPr>
          <a:xfrm>
            <a:off x="8619016" y="5179020"/>
            <a:ext cx="2874593" cy="112791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7000"/>
              </a:lnSpc>
              <a:buNone/>
            </a:pPr>
            <a:r>
              <a:rPr lang="en-US" sz="1400" dirty="0">
                <a:solidFill>
                  <a:srgbClr val="E5E0D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Fallback handling, diagnostics, and Cloudflare/API restriction management in </a:t>
            </a:r>
            <a:r>
              <a:rPr lang="en-US" sz="1400" dirty="0">
                <a:solidFill>
                  <a:srgbClr val="E5E0DF"/>
                </a:solidFill>
                <a:highlight>
                  <a:srgbClr val="322F2F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bob_integration.py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98086" y="628948"/>
            <a:ext cx="10795524" cy="4951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100" b="1" kern="0" spc="-94" dirty="0">
                <a:solidFill>
                  <a:srgbClr val="FFFFF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Results &amp; Impact</a:t>
            </a:r>
            <a:endParaRPr lang="en-US" sz="31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8086" y="1496814"/>
            <a:ext cx="420776" cy="420787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296360" y="1496814"/>
            <a:ext cx="5154484" cy="247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kern="0" spc="-47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Forecast MAE</a:t>
            </a:r>
            <a:endParaRPr lang="en-US" sz="1550" dirty="0"/>
          </a:p>
        </p:txBody>
      </p:sp>
      <p:sp>
        <p:nvSpPr>
          <p:cNvPr id="5" name="Text 2"/>
          <p:cNvSpPr/>
          <p:nvPr/>
        </p:nvSpPr>
        <p:spPr>
          <a:xfrm>
            <a:off x="1296360" y="1886347"/>
            <a:ext cx="5154484" cy="248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Evaluated on synthetic demand data to measure prediction accuracy</a:t>
            </a:r>
            <a:endParaRPr lang="en-US" sz="1300" dirty="0"/>
          </a:p>
        </p:txBody>
      </p:sp>
      <p:pic>
        <p:nvPicPr>
          <p:cNvPr id="6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98086" y="2418457"/>
            <a:ext cx="420776" cy="420787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1296360" y="2418457"/>
            <a:ext cx="5154484" cy="247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kern="0" spc="-47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Inference Latency</a:t>
            </a:r>
            <a:endParaRPr lang="en-US" sz="1550" dirty="0"/>
          </a:p>
        </p:txBody>
      </p:sp>
      <p:sp>
        <p:nvSpPr>
          <p:cNvPr id="8" name="Text 4"/>
          <p:cNvSpPr/>
          <p:nvPr/>
        </p:nvSpPr>
        <p:spPr>
          <a:xfrm>
            <a:off x="1296360" y="2807990"/>
            <a:ext cx="5154484" cy="248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End-to-end pipeline speed tested for real-time operator use</a:t>
            </a:r>
            <a:endParaRPr lang="en-US" sz="1300" dirty="0"/>
          </a:p>
        </p:txBody>
      </p:sp>
      <p:pic>
        <p:nvPicPr>
          <p:cNvPr id="9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98086" y="3340100"/>
            <a:ext cx="420776" cy="420787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1296360" y="3340100"/>
            <a:ext cx="5154484" cy="247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kern="0" spc="-47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Anomaly Precision</a:t>
            </a:r>
            <a:endParaRPr lang="en-US" sz="1550" dirty="0"/>
          </a:p>
        </p:txBody>
      </p:sp>
      <p:sp>
        <p:nvSpPr>
          <p:cNvPr id="11" name="Text 6"/>
          <p:cNvSpPr/>
          <p:nvPr/>
        </p:nvSpPr>
        <p:spPr>
          <a:xfrm>
            <a:off x="1296360" y="3729633"/>
            <a:ext cx="5154484" cy="248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IsolationForest evaluated for outlier detection quality</a:t>
            </a:r>
            <a:endParaRPr lang="en-US" sz="1300" dirty="0"/>
          </a:p>
        </p:txBody>
      </p:sp>
      <p:pic>
        <p:nvPicPr>
          <p:cNvPr id="12" name="Image 3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98086" y="4261743"/>
            <a:ext cx="420776" cy="420787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1296360" y="4261743"/>
            <a:ext cx="5154484" cy="247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kern="0" spc="-47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Faster Triage</a:t>
            </a:r>
            <a:endParaRPr lang="en-US" sz="1550" dirty="0"/>
          </a:p>
        </p:txBody>
      </p:sp>
      <p:sp>
        <p:nvSpPr>
          <p:cNvPr id="14" name="Text 8"/>
          <p:cNvSpPr/>
          <p:nvPr/>
        </p:nvSpPr>
        <p:spPr>
          <a:xfrm>
            <a:off x="1296360" y="4651276"/>
            <a:ext cx="5154484" cy="248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Bob AI briefs reduce manual analysis time for operators</a:t>
            </a:r>
            <a:endParaRPr lang="en-US" sz="1300" dirty="0"/>
          </a:p>
        </p:txBody>
      </p:sp>
      <p:pic>
        <p:nvPicPr>
          <p:cNvPr id="15" name="Image 4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98086" y="5183386"/>
            <a:ext cx="420776" cy="420787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1296360" y="5183386"/>
            <a:ext cx="5154484" cy="24755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550" b="1" kern="0" spc="-47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Reduced Curtailment</a:t>
            </a:r>
            <a:endParaRPr lang="en-US" sz="1550" dirty="0"/>
          </a:p>
        </p:txBody>
      </p:sp>
      <p:sp>
        <p:nvSpPr>
          <p:cNvPr id="17" name="Text 10"/>
          <p:cNvSpPr/>
          <p:nvPr/>
        </p:nvSpPr>
        <p:spPr>
          <a:xfrm>
            <a:off x="1296360" y="5572919"/>
            <a:ext cx="5154484" cy="4962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300" dirty="0">
                <a:solidFill>
                  <a:srgbClr val="E5E0D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Forecasting enables proactive dispatch, lowering renewable curtailment potential</a:t>
            </a:r>
            <a:endParaRPr lang="en-US" sz="1300" dirty="0"/>
          </a:p>
        </p:txBody>
      </p:sp>
      <p:sp>
        <p:nvSpPr>
          <p:cNvPr id="18" name="Shape 11"/>
          <p:cNvSpPr/>
          <p:nvPr/>
        </p:nvSpPr>
        <p:spPr>
          <a:xfrm>
            <a:off x="6867750" y="1496814"/>
            <a:ext cx="4632110" cy="1084163"/>
          </a:xfrm>
          <a:prstGeom prst="roundRect">
            <a:avLst>
              <a:gd name="adj" fmla="val 6520"/>
            </a:avLst>
          </a:prstGeom>
          <a:solidFill>
            <a:srgbClr val="7E023C"/>
          </a:solidFill>
          <a:ln/>
        </p:spPr>
      </p:sp>
      <p:pic>
        <p:nvPicPr>
          <p:cNvPr id="19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36021" y="1698724"/>
            <a:ext cx="210338" cy="168275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7414630" y="1666677"/>
            <a:ext cx="3916959" cy="7444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Note:</a:t>
            </a:r>
            <a:r>
              <a:rPr lang="en-US" sz="1300" dirty="0">
                <a:solidFill>
                  <a:srgbClr val="FFFFF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 Results are based on synthetic data. Real-world validation and safety constraints remain future work.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4571886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269971" y="584895"/>
            <a:ext cx="6223638" cy="46751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900" b="1" kern="0" spc="-88" dirty="0">
                <a:solidFill>
                  <a:srgbClr val="FFFFF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Team VRAM</a:t>
            </a:r>
            <a:endParaRPr lang="en-US" sz="2900" dirty="0"/>
          </a:p>
        </p:txBody>
      </p:sp>
      <p:sp>
        <p:nvSpPr>
          <p:cNvPr id="4" name="Shape 1"/>
          <p:cNvSpPr/>
          <p:nvPr/>
        </p:nvSpPr>
        <p:spPr>
          <a:xfrm>
            <a:off x="5269971" y="1242417"/>
            <a:ext cx="6223638" cy="868759"/>
          </a:xfrm>
          <a:prstGeom prst="roundRect">
            <a:avLst>
              <a:gd name="adj" fmla="val 7685"/>
            </a:avLst>
          </a:prstGeom>
          <a:solidFill>
            <a:srgbClr val="7E023C"/>
          </a:solidFill>
          <a:ln w="6350">
            <a:solidFill>
              <a:srgbClr val="971B55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435266" y="1407716"/>
            <a:ext cx="5893049" cy="233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kern="0" spc="-44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Member 1  - Aastha Patel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5435266" y="1717477"/>
            <a:ext cx="5893049" cy="2284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0D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Frontend &amp; UI/UX 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5269971" y="2237780"/>
            <a:ext cx="6223638" cy="868759"/>
          </a:xfrm>
          <a:prstGeom prst="roundRect">
            <a:avLst>
              <a:gd name="adj" fmla="val 7685"/>
            </a:avLst>
          </a:prstGeom>
          <a:solidFill>
            <a:srgbClr val="7E023C"/>
          </a:solidFill>
          <a:ln w="6350">
            <a:solidFill>
              <a:srgbClr val="971B55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435266" y="2403078"/>
            <a:ext cx="5893049" cy="233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kern="0" spc="-44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Member 2 - Meet K Patel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5435266" y="2712839"/>
            <a:ext cx="5893049" cy="2284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0D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AI/ML &amp; Forecasting 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5269971" y="3233142"/>
            <a:ext cx="6223638" cy="868759"/>
          </a:xfrm>
          <a:prstGeom prst="roundRect">
            <a:avLst>
              <a:gd name="adj" fmla="val 7685"/>
            </a:avLst>
          </a:prstGeom>
          <a:solidFill>
            <a:srgbClr val="7E023C"/>
          </a:solidFill>
          <a:ln w="6350">
            <a:solidFill>
              <a:srgbClr val="971B55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35266" y="3398441"/>
            <a:ext cx="5893049" cy="233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kern="0" spc="-44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Member 3 - Ruchit Jivani</a:t>
            </a:r>
            <a:endParaRPr lang="en-US" sz="1450" dirty="0"/>
          </a:p>
        </p:txBody>
      </p:sp>
      <p:sp>
        <p:nvSpPr>
          <p:cNvPr id="12" name="Text 9"/>
          <p:cNvSpPr/>
          <p:nvPr/>
        </p:nvSpPr>
        <p:spPr>
          <a:xfrm>
            <a:off x="5435266" y="3708202"/>
            <a:ext cx="5893049" cy="2284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0D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Anomaly Detection &amp; Optimisation 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269971" y="4228505"/>
            <a:ext cx="6223638" cy="868759"/>
          </a:xfrm>
          <a:prstGeom prst="roundRect">
            <a:avLst>
              <a:gd name="adj" fmla="val 7685"/>
            </a:avLst>
          </a:prstGeom>
          <a:solidFill>
            <a:srgbClr val="7E023C"/>
          </a:solidFill>
          <a:ln w="6350">
            <a:solidFill>
              <a:srgbClr val="971B5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35266" y="4393803"/>
            <a:ext cx="5893049" cy="2337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450" b="1" kern="0" spc="-44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Member 4 - Vaibhavi Bhatt</a:t>
            </a:r>
            <a:endParaRPr lang="en-US" sz="1450" dirty="0"/>
          </a:p>
        </p:txBody>
      </p:sp>
      <p:sp>
        <p:nvSpPr>
          <p:cNvPr id="15" name="Text 12"/>
          <p:cNvSpPr/>
          <p:nvPr/>
        </p:nvSpPr>
        <p:spPr>
          <a:xfrm>
            <a:off x="5435266" y="4703564"/>
            <a:ext cx="5893049" cy="2284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dirty="0">
                <a:solidFill>
                  <a:srgbClr val="E5E0DF"/>
                </a:solidFill>
                <a:latin typeface="Overpass" pitchFamily="34" charset="0"/>
                <a:ea typeface="Overpass" pitchFamily="34" charset="-122"/>
                <a:cs typeface="Overpass" pitchFamily="34" charset="-120"/>
              </a:rPr>
              <a:t>Bob AI &amp; Backend </a:t>
            </a:r>
            <a:endParaRPr lang="en-US" sz="1250" dirty="0"/>
          </a:p>
        </p:txBody>
      </p:sp>
      <p:sp>
        <p:nvSpPr>
          <p:cNvPr id="16" name="Text 13"/>
          <p:cNvSpPr/>
          <p:nvPr/>
        </p:nvSpPr>
        <p:spPr>
          <a:xfrm>
            <a:off x="5269971" y="5239742"/>
            <a:ext cx="6833223" cy="22840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E5E0D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Forecast → Detect → Optimise → Explain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269971" y="5650309"/>
            <a:ext cx="6223638" cy="19050"/>
          </a:xfrm>
          <a:prstGeom prst="roundRect">
            <a:avLst>
              <a:gd name="adj" fmla="val 49999"/>
            </a:avLst>
          </a:prstGeom>
          <a:solidFill>
            <a:srgbClr val="E5E0DF">
              <a:alpha val="50000"/>
            </a:srgbClr>
          </a:solidFill>
          <a:ln/>
        </p:spPr>
      </p:sp>
      <p:sp>
        <p:nvSpPr>
          <p:cNvPr id="18" name="Text 15"/>
          <p:cNvSpPr/>
          <p:nvPr/>
        </p:nvSpPr>
        <p:spPr>
          <a:xfrm>
            <a:off x="5269971" y="5899051"/>
            <a:ext cx="6223638" cy="37405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50" b="1" kern="0" spc="-71" dirty="0">
                <a:solidFill>
                  <a:srgbClr val="FFFFFF"/>
                </a:solidFill>
                <a:latin typeface="Overpass Bold" pitchFamily="34" charset="0"/>
                <a:ea typeface="Overpass Bold" pitchFamily="34" charset="-122"/>
                <a:cs typeface="Overpass Bold" pitchFamily="34" charset="-120"/>
              </a:rPr>
              <a:t>Thank You — Q&amp;A</a:t>
            </a:r>
            <a:endParaRPr lang="en-US" sz="2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442</Words>
  <Application>Microsoft Office PowerPoint</Application>
  <PresentationFormat>Widescreen</PresentationFormat>
  <Paragraphs>83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Overpass</vt:lpstr>
      <vt:lpstr>Overpass Bold</vt:lpstr>
      <vt:lpstr>Arial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Meet Patel</cp:lastModifiedBy>
  <cp:revision>1</cp:revision>
  <dcterms:created xsi:type="dcterms:W3CDTF">2026-09-15T17:22:12Z</dcterms:created>
  <dcterms:modified xsi:type="dcterms:W3CDTF">2026-09-15T17:38:42Z</dcterms:modified>
</cp:coreProperties>
</file>